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309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205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82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8409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195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5561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060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703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027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8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528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99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18417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05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499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3412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2025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862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16720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476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9971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33545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13258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86946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40716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594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3084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95CB-7DD9-FFF8-CDE6-35784CFF2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EBC14-3B07-AC2A-7ACF-4345C178D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8011E-E22A-DB00-9E65-383A7593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D1A85-F9C7-903F-E891-6E5A59F6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BECA-0DF7-CD22-C5D2-9155A122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708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657D05B-653B-4188-8427-73E63638274C}" type="datetimeFigureOut">
              <a:rPr lang="en-ID" smtClean="0"/>
              <a:t>06/10/2026</a:t>
            </a:fld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7BB80B24-72D2-4361-9A6E-13170F6490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71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D7D8-4931-47B0-625D-BD519A886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ID" dirty="0"/>
              <a:t>Smart Parking Availability Detector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3FB0A-A48D-398A-8F0B-592450327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/>
              <a:t>Mourinho Hernanto</a:t>
            </a:r>
          </a:p>
          <a:p>
            <a:r>
              <a:rPr lang="en-ID" dirty="0"/>
              <a:t>ITAI 1378</a:t>
            </a:r>
          </a:p>
        </p:txBody>
      </p:sp>
    </p:spTree>
    <p:extLst>
      <p:ext uri="{BB962C8B-B14F-4D97-AF65-F5344CB8AC3E}">
        <p14:creationId xmlns:p14="http://schemas.microsoft.com/office/powerpoint/2010/main" val="3188228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8088-6C0F-C66F-A9CD-BEFEC5057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9317"/>
          </a:xfrm>
        </p:spPr>
        <p:txBody>
          <a:bodyPr/>
          <a:lstStyle/>
          <a:p>
            <a:r>
              <a:rPr lang="en-ID" dirty="0"/>
              <a:t>The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ED111-A84F-A0FA-0BDE-481189D39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1992"/>
            <a:ext cx="9144000" cy="303580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- Drivers lose time searching for parking</a:t>
            </a:r>
          </a:p>
          <a:p>
            <a:r>
              <a:rPr lang="en-US" dirty="0"/>
              <a:t>- INRIX study (2017): 17 </a:t>
            </a:r>
            <a:r>
              <a:rPr lang="en-US" dirty="0" err="1"/>
              <a:t>hrs</a:t>
            </a:r>
            <a:r>
              <a:rPr lang="en-US" dirty="0"/>
              <a:t>/year, $345 per driver, $72.7B per year in the U.S. </a:t>
            </a:r>
          </a:p>
          <a:p>
            <a:r>
              <a:rPr lang="en-US" dirty="0"/>
              <a:t>Survey of ~6,000 drivers in 10 cities. Say it is 2017 data.</a:t>
            </a:r>
          </a:p>
          <a:p>
            <a:r>
              <a:rPr lang="en-US" dirty="0"/>
              <a:t>- Who cares: drivers, campus and lot operators, small lot owners</a:t>
            </a:r>
          </a:p>
          <a:p>
            <a:r>
              <a:rPr lang="en-US" dirty="0"/>
              <a:t>- Gap: can't see free spaces before entering, and per-space sensors are expensive</a:t>
            </a:r>
          </a:p>
          <a:p>
            <a:r>
              <a:rPr lang="en-US" dirty="0"/>
              <a:t>- What solves it: one camera plus a YOLO detector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4021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033A-F296-EC59-7DAF-7C63515B5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9045"/>
          </a:xfrm>
        </p:spPr>
        <p:txBody>
          <a:bodyPr/>
          <a:lstStyle/>
          <a:p>
            <a:r>
              <a:rPr lang="en-ID" dirty="0"/>
              <a:t>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1A3BD-BF97-AB5A-9DC3-39B591F09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4148" y="2331720"/>
            <a:ext cx="9823704" cy="3136392"/>
          </a:xfrm>
        </p:spPr>
        <p:txBody>
          <a:bodyPr/>
          <a:lstStyle/>
          <a:p>
            <a:pPr lvl="0"/>
            <a:r>
              <a:rPr lang="en-ID" dirty="0"/>
              <a:t>Fixed-camera image in, empty/occupied spaces and free count out</a:t>
            </a:r>
          </a:p>
          <a:p>
            <a:pPr lvl="0"/>
            <a:endParaRPr lang="en-ID" dirty="0"/>
          </a:p>
          <a:p>
            <a:pPr lvl="0"/>
            <a:r>
              <a:rPr lang="en-ID" dirty="0"/>
              <a:t>Flow diagram: </a:t>
            </a:r>
          </a:p>
          <a:p>
            <a:pPr lvl="0"/>
            <a:r>
              <a:rPr lang="en-ID" dirty="0"/>
              <a:t>Camera image → fine-tuned YOLO26n → empty/occupied boxes → counting logic → annotated image + "Free X of Y" + CSV log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9036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F60-4F13-A3FC-79A5-1C860FE8D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35037"/>
          </a:xfrm>
        </p:spPr>
        <p:txBody>
          <a:bodyPr/>
          <a:lstStyle/>
          <a:p>
            <a:r>
              <a:rPr lang="en-ID" dirty="0"/>
              <a:t>Technical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888FA1-7372-0EA9-EB61-7B70DA04E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272"/>
            <a:ext cx="9144000" cy="30815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- Technique: object detection</a:t>
            </a:r>
          </a:p>
          <a:p>
            <a:r>
              <a:rPr lang="en-US" dirty="0"/>
              <a:t>- Model: YOLO26n (</a:t>
            </a:r>
            <a:r>
              <a:rPr lang="en-US" dirty="0" err="1"/>
              <a:t>Ultralytics</a:t>
            </a:r>
            <a:r>
              <a:rPr lang="en-US" dirty="0"/>
              <a:t>), CNN-based, single-stage</a:t>
            </a:r>
          </a:p>
          <a:p>
            <a:r>
              <a:rPr lang="en-US" dirty="0"/>
              <a:t>- How: transfer learning from pretrained weights</a:t>
            </a:r>
          </a:p>
          <a:p>
            <a:r>
              <a:rPr lang="en-US" dirty="0"/>
              <a:t>- Framework: </a:t>
            </a:r>
            <a:r>
              <a:rPr lang="en-US" dirty="0" err="1"/>
              <a:t>Ultralytics</a:t>
            </a:r>
            <a:r>
              <a:rPr lang="en-US" dirty="0"/>
              <a:t> /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en-US" dirty="0"/>
              <a:t>- Why detection: it finds and labels every space in one pass, while classification needs slot coordinates first</a:t>
            </a:r>
          </a:p>
          <a:p>
            <a:r>
              <a:rPr lang="en-US" dirty="0"/>
              <a:t>- Baseline: pretrained COCO model that just counts cars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6389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25AE-06EB-D54B-C3C7-49FAA1ABD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9317"/>
          </a:xfrm>
        </p:spPr>
        <p:txBody>
          <a:bodyPr/>
          <a:lstStyle/>
          <a:p>
            <a:r>
              <a:rPr lang="en-ID" dirty="0"/>
              <a:t>Data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5BF64-19D1-0433-2A38-C2EE000EF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11680"/>
            <a:ext cx="9144000" cy="3246120"/>
          </a:xfrm>
        </p:spPr>
        <p:txBody>
          <a:bodyPr>
            <a:normAutofit fontScale="92500"/>
          </a:bodyPr>
          <a:lstStyle/>
          <a:p>
            <a:r>
              <a:rPr lang="en-ID" dirty="0"/>
              <a:t>- </a:t>
            </a:r>
            <a:r>
              <a:rPr lang="en-ID" dirty="0" err="1"/>
              <a:t>PKLot</a:t>
            </a:r>
            <a:r>
              <a:rPr lang="en-ID" dirty="0"/>
              <a:t> (Almeida et al., 2015) via </a:t>
            </a:r>
            <a:r>
              <a:rPr lang="en-ID" dirty="0" err="1"/>
              <a:t>Roboflow</a:t>
            </a:r>
            <a:r>
              <a:rPr lang="en-ID" dirty="0"/>
              <a:t> Public Datasets, CC BY 4.0</a:t>
            </a:r>
          </a:p>
          <a:p>
            <a:r>
              <a:rPr lang="en-ID" dirty="0"/>
              <a:t>- 12,416 images, ~695,900 annotated spaces, using a ~3,000-image subset</a:t>
            </a:r>
          </a:p>
          <a:p>
            <a:r>
              <a:rPr lang="en-ID" dirty="0"/>
              <a:t>- Labels: bounding boxes, empty / occupied</a:t>
            </a:r>
          </a:p>
          <a:p>
            <a:r>
              <a:rPr lang="en-ID" dirty="0"/>
              <a:t>- Own test set: Photos of a real lot</a:t>
            </a:r>
          </a:p>
          <a:p>
            <a:r>
              <a:rPr lang="en-ID" dirty="0"/>
              <a:t>- Link: public.roboflow.com/object-detection/</a:t>
            </a:r>
            <a:r>
              <a:rPr lang="en-ID" dirty="0" err="1"/>
              <a:t>pklot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2479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78C6-E177-E737-99BA-5ACE91004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07605"/>
          </a:xfrm>
        </p:spPr>
        <p:txBody>
          <a:bodyPr/>
          <a:lstStyle/>
          <a:p>
            <a:r>
              <a:rPr lang="en-ID" dirty="0"/>
              <a:t>Success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F5883-EA91-2387-01C3-98D847C2A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9968"/>
            <a:ext cx="9144000" cy="32278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Primary: mAP50 ≥ 0.90 on the test split</a:t>
            </a:r>
          </a:p>
          <a:p>
            <a:r>
              <a:rPr lang="en-US" dirty="0"/>
              <a:t>Secondary: under 1 second per image</a:t>
            </a:r>
          </a:p>
          <a:p>
            <a:r>
              <a:rPr lang="en-US" dirty="0"/>
              <a:t>mAP50: a predicted box counts as correct at ≥ 50% overlap with the true box</a:t>
            </a:r>
          </a:p>
          <a:p>
            <a:r>
              <a:rPr lang="en-US" dirty="0"/>
              <a:t>Course scale: above 0.9 is excellent</a:t>
            </a:r>
          </a:p>
          <a:p>
            <a:r>
              <a:rPr lang="en-US" dirty="0"/>
              <a:t>Extra analysis, no target: accuracy on own photos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4313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F9F46-D149-06EC-9D87-9974EBD19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513113"/>
            <a:ext cx="9144000" cy="898461"/>
          </a:xfrm>
        </p:spPr>
        <p:txBody>
          <a:bodyPr/>
          <a:lstStyle/>
          <a:p>
            <a:r>
              <a:rPr lang="en-ID" dirty="0"/>
              <a:t>Milestone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97405-9922-BEA6-5C93-E25550F1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95" y="1497906"/>
            <a:ext cx="7817207" cy="475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9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34D8-361F-529A-91E9-8C4A27BE2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9835"/>
            <a:ext cx="9144000" cy="898461"/>
          </a:xfrm>
        </p:spPr>
        <p:txBody>
          <a:bodyPr/>
          <a:lstStyle/>
          <a:p>
            <a:r>
              <a:rPr lang="en-ID" dirty="0"/>
              <a:t>Risks and Resources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2F853-3394-293A-C933-23857E760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2475013"/>
            <a:ext cx="1059327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1604-D150-11C4-CB18-8C1D58585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2466"/>
            <a:ext cx="9144000" cy="913067"/>
          </a:xfrm>
        </p:spPr>
        <p:txBody>
          <a:bodyPr/>
          <a:lstStyle/>
          <a:p>
            <a:r>
              <a:rPr lang="en-US" dirty="0"/>
              <a:t>Thank You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38212455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7</TotalTime>
  <Words>324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JasmineUPC</vt:lpstr>
      <vt:lpstr>Raleway</vt:lpstr>
      <vt:lpstr>School Days</vt:lpstr>
      <vt:lpstr>Smart Parking Availability Detector</vt:lpstr>
      <vt:lpstr>The Problem</vt:lpstr>
      <vt:lpstr>Solution</vt:lpstr>
      <vt:lpstr>Technical Approach</vt:lpstr>
      <vt:lpstr>Data Plan</vt:lpstr>
      <vt:lpstr>Success Metrics</vt:lpstr>
      <vt:lpstr>Milestone Plan</vt:lpstr>
      <vt:lpstr>Risks and Resources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mourinho.hernanto-W216678719</dc:creator>
  <cp:lastModifiedBy>mourinho.hernanto-W216678719</cp:lastModifiedBy>
  <cp:revision>1</cp:revision>
  <dcterms:created xsi:type="dcterms:W3CDTF">2026-10-07T03:01:21Z</dcterms:created>
  <dcterms:modified xsi:type="dcterms:W3CDTF">2026-10-07T03:08:44Z</dcterms:modified>
</cp:coreProperties>
</file>